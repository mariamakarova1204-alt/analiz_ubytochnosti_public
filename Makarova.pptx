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61" r:id="rId6"/>
    <p:sldId id="262" r:id="rId7"/>
    <p:sldId id="263" r:id="rId8"/>
    <p:sldId id="264" r:id="rId9"/>
    <p:sldId id="265" r:id="rId10"/>
    <p:sldId id="270" r:id="rId11"/>
    <p:sldId id="266" r:id="rId12"/>
    <p:sldId id="267" r:id="rId13"/>
    <p:sldId id="268" r:id="rId14"/>
    <p:sldId id="269" r:id="rId15"/>
    <p:sldId id="25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344D84-9AFB-497E-A393-DC336BA19D2E}" styleName="Средний стиль 3 — акцент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Средний стиль 4 — акцент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D7AC3CCA-C797-4891-BE02-D94E43425B78}" styleName="Средний стиль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Средний стиль 4 — акцент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37CE84F3-28C3-443E-9E96-99CF82512B78}" styleName="Темный стиль 1 — акцент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Темный стиль 1 — акцент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Темный стиль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Темный стиль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5" d="100"/>
          <a:sy n="85" d="100"/>
        </p:scale>
        <p:origin x="54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8612A7-67B9-46A9-B9DC-E0116A321E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8E064F0-DBC1-473E-B353-B18B97A8FA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A420598-1487-419C-935F-31811BF18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1465D-8F46-4DE9-90DC-242E1C7E0D6B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B11108E-FE54-41BC-9D9D-241858E48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471FBBC-B74C-41AA-8DB8-BA2E9A6BA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8C5A4-A53F-4784-969C-3B67AB5E16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885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11C454-165E-4EB0-BF81-1AAACC592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5B84AB-A2C6-46D3-9880-51E2C184BF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3B84272-674C-47A1-B165-9E40D4E3A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1465D-8F46-4DE9-90DC-242E1C7E0D6B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3BF6F12-9727-4D75-98F7-21ADB46E8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DEC21EC-3CF2-476A-84FB-95FC8E6FE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8C5A4-A53F-4784-969C-3B67AB5E16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912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3CF90A-1938-4C89-A0F2-408D682CA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BFEE8F9-D4A5-4B80-BCCE-285F877DE0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3CCBBF4-3255-422C-AE9D-0A059AD44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1465D-8F46-4DE9-90DC-242E1C7E0D6B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66E62F4-A530-4D94-9431-3140F3D81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26E5EAA-8D5B-40AC-9A2C-EC98E9B25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8C5A4-A53F-4784-969C-3B67AB5E16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715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A8192D-CCA9-4BBD-8CDA-FB610A156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DA2CB7-2BFF-42D5-9822-696E2F492D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3F57511-4600-4692-982F-5F393DD16F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D2B8977-BA64-46A9-BAA0-A18E402BC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1465D-8F46-4DE9-90DC-242E1C7E0D6B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BBD73B5-6889-4594-B060-422CC9635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DD17404-3CF8-46C9-9F50-06B7B749C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8C5A4-A53F-4784-969C-3B67AB5E16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422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8A3B89-753E-41C7-98DF-D5AF55D8E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8115AD2-8241-4A9E-8CB8-33BCE9B0A6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25CB3A6-4C36-4B78-A8BA-EBE807C347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EC985ED-48C0-460A-A5C3-A9C08F06CD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1411685-F374-4171-9919-A87C20CF62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5D2FAD1-1479-41AD-A489-CE6404CC0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1465D-8F46-4DE9-90DC-242E1C7E0D6B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D2912F4-D1BA-4D41-9DBC-7AC37F4E0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CD44EF9-F5D9-4435-9BC3-013CFF3D7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8C5A4-A53F-4784-969C-3B67AB5E16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550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117A8B-870A-4E61-8EB4-735D1B843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FBD0863-844B-4473-92C2-BC412F0CD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1465D-8F46-4DE9-90DC-242E1C7E0D6B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93E9A52-0C9F-4B6F-B60F-05870E35B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1FA4563-1026-4A27-AD12-3F61E7D97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8C5A4-A53F-4784-969C-3B67AB5E16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522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366DE21-6271-4872-9F95-61F0BE98F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1465D-8F46-4DE9-90DC-242E1C7E0D6B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8B9448E-749D-4A1F-9333-1CE8BA8D5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A273BF8-2DFC-4608-9A7C-238109A26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8C5A4-A53F-4784-969C-3B67AB5E16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06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C019F9-973B-4371-BD16-68788F2FF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208B5F-2762-40AA-8028-10587238C2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F8F29D2-A929-43F7-B53C-52E95E6F12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693C77D-C81B-4944-9814-F830EEBD9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1465D-8F46-4DE9-90DC-242E1C7E0D6B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A76A0CF-C799-4202-A52D-09BAA632E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973985C-5565-4389-B2F0-C1374D51A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8C5A4-A53F-4784-969C-3B67AB5E16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563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3A8B56-FF95-4A39-8C4D-4530A036D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DDD40C2-AAC4-423F-8DF3-3BBCCA2AFD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A465F58-CBF1-4D34-8F7E-0ECBD88621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E6723FE-EB38-4DA6-9CC3-44EEA6A9C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1465D-8F46-4DE9-90DC-242E1C7E0D6B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BA97A87-28CF-4E0F-B97C-89795FA3E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3684CE7-0471-4E25-9B34-37B5F82D9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8C5A4-A53F-4784-969C-3B67AB5E16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343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3960D9-1FEA-41FB-B359-D66691A15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18AD8D3-88AA-40B3-BD80-FDF4883621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FBCA08C-D421-414A-8897-872FC0F0B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1465D-8F46-4DE9-90DC-242E1C7E0D6B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B778EFB-D0B9-4438-8055-F8838B53E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1683773-8F39-4697-8B2C-A3F250E42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8C5A4-A53F-4784-969C-3B67AB5E16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002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A9923B8-A522-409B-88EB-24A25124FB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5CF6B56-EAB6-4374-A8AE-47C456D82F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AA849A5-E8FF-4D76-85D9-2957808EB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1465D-8F46-4DE9-90DC-242E1C7E0D6B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B4DF625-602C-4E07-A53B-7E0B40CFE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EDCA3F7-9D5C-4A07-B20D-4BB1707B0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8C5A4-A53F-4784-969C-3B67AB5E16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235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D31C31-A09A-4B7C-A801-3FC28852A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063C95D-F4A2-4A39-87C4-60B06C1084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CDDF1E4-9AB3-4056-8C2C-751E032519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41465D-8F46-4DE9-90DC-242E1C7E0D6B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1D9FE73-71CA-4474-8C20-3184669810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DCD4A72-DF07-404C-AB84-22300CB04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F8C5A4-A53F-4784-969C-3B67AB5E16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16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3C7F46-53FF-468D-B8AF-2E3A7A31B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7799" y="2766218"/>
            <a:ext cx="10515600" cy="1325563"/>
          </a:xfrm>
        </p:spPr>
        <p:txBody>
          <a:bodyPr>
            <a:normAutofit fontScale="90000"/>
          </a:bodyPr>
          <a:lstStyle/>
          <a:p>
            <a:pPr algn="r"/>
            <a:r>
              <a:rPr lang="ru-RU" sz="5300" dirty="0">
                <a:effectLst>
                  <a:outerShdw blurRad="50800" dist="38100" dir="19860000" sx="101000" sy="101000" algn="bl" rotWithShape="0">
                    <a:prstClr val="black">
                      <a:alpha val="41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</a:t>
            </a:r>
            <a:br>
              <a:rPr lang="ru-RU" sz="5300" dirty="0">
                <a:effectLst>
                  <a:outerShdw blurRad="50800" dist="38100" dir="19860000" sx="101000" sy="101000" algn="bl" rotWithShape="0">
                    <a:prstClr val="black">
                      <a:alpha val="41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5300" dirty="0">
                <a:effectLst>
                  <a:outerShdw blurRad="50800" dist="38100" dir="19860000" sx="101000" sy="101000" algn="bl" rotWithShape="0">
                    <a:prstClr val="black">
                      <a:alpha val="41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убыточности </a:t>
            </a:r>
            <a:br>
              <a:rPr lang="ru-RU" sz="5300" dirty="0">
                <a:effectLst>
                  <a:outerShdw blurRad="50800" dist="38100" dir="19860000" sx="101000" sy="101000" algn="bl" rotWithShape="0">
                    <a:prstClr val="black">
                      <a:alpha val="41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5300" dirty="0">
                <a:effectLst>
                  <a:outerShdw blurRad="50800" dist="38100" dir="19860000" sx="101000" sy="101000" algn="bl" rotWithShape="0">
                    <a:prstClr val="black">
                      <a:alpha val="41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типографии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/>
            </a:br>
            <a:endParaRPr lang="en-US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C449585E-7FF6-4204-B808-226697AE46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839200" cy="6858000"/>
          </a:xfr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0" scaled="1"/>
            <a:tileRect/>
          </a:gradFill>
          <a:effectLst>
            <a:reflection endPos="0" dist="50800" dir="5400000" sy="-100000" algn="bl" rotWithShape="0"/>
            <a:softEdge rad="457200"/>
          </a:effectLst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BB06CCE-DB36-4D57-8042-85FCB3BC0F8C}"/>
              </a:ext>
            </a:extLst>
          </p:cNvPr>
          <p:cNvSpPr/>
          <p:nvPr/>
        </p:nvSpPr>
        <p:spPr>
          <a:xfrm>
            <a:off x="5977399" y="5684553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Макарова Мария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Группа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DA1025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.0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.2026 г.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0256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8C2BC6-FB57-4AE0-B5ED-8A99DCB0A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6625" y="1117996"/>
            <a:ext cx="8439150" cy="1325563"/>
          </a:xfrm>
        </p:spPr>
        <p:txBody>
          <a:bodyPr>
            <a:normAutofit fontScale="90000"/>
          </a:bodyPr>
          <a:lstStyle/>
          <a:p>
            <a:r>
              <a:rPr lang="ru-RU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Вопрос: </a:t>
            </a:r>
            <a:br>
              <a:rPr lang="ru-RU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почему стабильно </a:t>
            </a:r>
            <a:br>
              <a:rPr lang="ru-RU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прибыльная типография </a:t>
            </a:r>
            <a:br>
              <a:rPr lang="ru-RU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стала убыточной в последние </a:t>
            </a:r>
            <a:br>
              <a:rPr lang="ru-RU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периоды?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E1435C3E-8519-437A-B80B-DA129D8AF0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3425"/>
            <a:ext cx="7145866" cy="5238750"/>
          </a:xfrm>
          <a:effectLst>
            <a:softEdge rad="635000"/>
          </a:effectLst>
        </p:spPr>
      </p:pic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47796836-281A-4E88-BC5E-D55B7BE3DAC2}"/>
              </a:ext>
            </a:extLst>
          </p:cNvPr>
          <p:cNvSpPr txBox="1">
            <a:spLocks/>
          </p:cNvSpPr>
          <p:nvPr/>
        </p:nvSpPr>
        <p:spPr>
          <a:xfrm>
            <a:off x="7286625" y="28638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Цель: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ru-RU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выявить причины </a:t>
            </a:r>
          </a:p>
          <a:p>
            <a:r>
              <a:rPr lang="ru-RU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убыточности типографии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5FDCDD28-67C4-4880-903D-62F065F27F0B}"/>
              </a:ext>
            </a:extLst>
          </p:cNvPr>
          <p:cNvSpPr txBox="1">
            <a:spLocks/>
          </p:cNvSpPr>
          <p:nvPr/>
        </p:nvSpPr>
        <p:spPr>
          <a:xfrm>
            <a:off x="7286625" y="4414441"/>
            <a:ext cx="372215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Данные:</a:t>
            </a: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- 1С:Бухгалтерия</a:t>
            </a:r>
          </a:p>
          <a:p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058C5358-92EB-4E4D-8E5E-094661CBA111}"/>
              </a:ext>
            </a:extLst>
          </p:cNvPr>
          <p:cNvCxnSpPr/>
          <p:nvPr/>
        </p:nvCxnSpPr>
        <p:spPr>
          <a:xfrm>
            <a:off x="7362825" y="2836862"/>
            <a:ext cx="436245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0251E15A-72AF-4BE7-96D0-81525986F695}"/>
              </a:ext>
            </a:extLst>
          </p:cNvPr>
          <p:cNvCxnSpPr/>
          <p:nvPr/>
        </p:nvCxnSpPr>
        <p:spPr>
          <a:xfrm>
            <a:off x="7362825" y="4379912"/>
            <a:ext cx="436245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ABDD96E4-C34A-4070-9D4A-301B904CE4FF}"/>
              </a:ext>
            </a:extLst>
          </p:cNvPr>
          <p:cNvCxnSpPr/>
          <p:nvPr/>
        </p:nvCxnSpPr>
        <p:spPr>
          <a:xfrm>
            <a:off x="7145866" y="1047750"/>
            <a:ext cx="0" cy="4524375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073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10">
            <a:extLst>
              <a:ext uri="{FF2B5EF4-FFF2-40B4-BE49-F238E27FC236}">
                <a16:creationId xmlns:a16="http://schemas.microsoft.com/office/drawing/2014/main" id="{5DF4BCA0-2AB5-44ED-979C-AAD533C03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167" y="209551"/>
            <a:ext cx="10515600" cy="943815"/>
          </a:xfrm>
        </p:spPr>
        <p:txBody>
          <a:bodyPr>
            <a:noAutofit/>
          </a:bodyPr>
          <a:lstStyle/>
          <a:p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Этапы реализации задачи и их проработка</a:t>
            </a:r>
            <a:endParaRPr lang="ru-BY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4" name="Таблица 14">
            <a:extLst>
              <a:ext uri="{FF2B5EF4-FFF2-40B4-BE49-F238E27FC236}">
                <a16:creationId xmlns:a16="http://schemas.microsoft.com/office/drawing/2014/main" id="{C17F5B6C-0C66-4229-B307-707EB9CA17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6622367"/>
              </p:ext>
            </p:extLst>
          </p:nvPr>
        </p:nvGraphicFramePr>
        <p:xfrm>
          <a:off x="848659" y="1356160"/>
          <a:ext cx="10151034" cy="4811555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12588">
                  <a:extLst>
                    <a:ext uri="{9D8B030D-6E8A-4147-A177-3AD203B41FA5}">
                      <a16:colId xmlns:a16="http://schemas.microsoft.com/office/drawing/2014/main" val="3535262686"/>
                    </a:ext>
                  </a:extLst>
                </a:gridCol>
                <a:gridCol w="2771090">
                  <a:extLst>
                    <a:ext uri="{9D8B030D-6E8A-4147-A177-3AD203B41FA5}">
                      <a16:colId xmlns:a16="http://schemas.microsoft.com/office/drawing/2014/main" val="1333708275"/>
                    </a:ext>
                  </a:extLst>
                </a:gridCol>
                <a:gridCol w="3383678">
                  <a:extLst>
                    <a:ext uri="{9D8B030D-6E8A-4147-A177-3AD203B41FA5}">
                      <a16:colId xmlns:a16="http://schemas.microsoft.com/office/drawing/2014/main" val="3957013886"/>
                    </a:ext>
                  </a:extLst>
                </a:gridCol>
                <a:gridCol w="3383678">
                  <a:extLst>
                    <a:ext uri="{9D8B030D-6E8A-4147-A177-3AD203B41FA5}">
                      <a16:colId xmlns:a16="http://schemas.microsoft.com/office/drawing/2014/main" val="3096959391"/>
                    </a:ext>
                  </a:extLst>
                </a:gridCol>
              </a:tblGrid>
              <a:tr h="687365"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п/п</a:t>
                      </a:r>
                      <a:endParaRPr lang="ru-BY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Этап</a:t>
                      </a:r>
                      <a:endParaRPr lang="ru-BY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Что делалось</a:t>
                      </a:r>
                      <a:endParaRPr lang="ru-BY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Инструмент</a:t>
                      </a:r>
                      <a:endParaRPr lang="ru-BY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8844447"/>
                  </a:ext>
                </a:extLst>
              </a:tr>
              <a:tr h="687365">
                <a:tc>
                  <a:txBody>
                    <a:bodyPr/>
                    <a:lstStyle/>
                    <a:p>
                      <a:pPr algn="l"/>
                      <a:r>
                        <a:rPr lang="ru-RU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BY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Сбор данных</a:t>
                      </a:r>
                      <a:endParaRPr lang="ru-BY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Выгрузки из 1С</a:t>
                      </a:r>
                      <a:endParaRPr lang="ru-BY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Excel</a:t>
                      </a:r>
                      <a:endParaRPr lang="ru-BY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214062"/>
                  </a:ext>
                </a:extLst>
              </a:tr>
              <a:tr h="687365">
                <a:tc>
                  <a:txBody>
                    <a:bodyPr/>
                    <a:lstStyle/>
                    <a:p>
                      <a:pPr algn="l"/>
                      <a:r>
                        <a:rPr lang="ru-RU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ru-BY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Очистка</a:t>
                      </a:r>
                      <a:endParaRPr lang="ru-BY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Обработка данных</a:t>
                      </a:r>
                      <a:endParaRPr lang="ru-BY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</a:t>
                      </a:r>
                      <a:endParaRPr lang="ru-BY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0337657"/>
                  </a:ext>
                </a:extLst>
              </a:tr>
              <a:tr h="687365">
                <a:tc>
                  <a:txBody>
                    <a:bodyPr/>
                    <a:lstStyle/>
                    <a:p>
                      <a:pPr algn="l"/>
                      <a:r>
                        <a:rPr lang="ru-RU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ru-BY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Анализ</a:t>
                      </a:r>
                      <a:endParaRPr lang="ru-BY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Расчет показателей</a:t>
                      </a:r>
                      <a:endParaRPr lang="ru-BY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Pandas</a:t>
                      </a:r>
                      <a:endParaRPr lang="ru-BY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8827047"/>
                  </a:ext>
                </a:extLst>
              </a:tr>
              <a:tr h="687365">
                <a:tc>
                  <a:txBody>
                    <a:bodyPr/>
                    <a:lstStyle/>
                    <a:p>
                      <a:pPr algn="l"/>
                      <a:r>
                        <a:rPr lang="ru-RU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ru-BY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SQL</a:t>
                      </a:r>
                      <a:endParaRPr lang="ru-BY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Аналитические запросы</a:t>
                      </a:r>
                      <a:endParaRPr lang="ru-BY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SQLite</a:t>
                      </a:r>
                      <a:endParaRPr lang="ru-BY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8485872"/>
                  </a:ext>
                </a:extLst>
              </a:tr>
              <a:tr h="687365">
                <a:tc>
                  <a:txBody>
                    <a:bodyPr/>
                    <a:lstStyle/>
                    <a:p>
                      <a:pPr algn="l"/>
                      <a:r>
                        <a:rPr lang="ru-RU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ru-BY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Визуализация</a:t>
                      </a:r>
                      <a:endParaRPr lang="ru-BY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Дашборд</a:t>
                      </a:r>
                      <a:endParaRPr lang="ru-BY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 BI</a:t>
                      </a:r>
                      <a:endParaRPr lang="ru-BY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1786357"/>
                  </a:ext>
                </a:extLst>
              </a:tr>
              <a:tr h="687365">
                <a:tc>
                  <a:txBody>
                    <a:bodyPr/>
                    <a:lstStyle/>
                    <a:p>
                      <a:pPr algn="l"/>
                      <a:r>
                        <a:rPr lang="ru-RU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ru-BY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Публикация</a:t>
                      </a:r>
                      <a:endParaRPr lang="ru-BY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История проекта</a:t>
                      </a:r>
                      <a:endParaRPr lang="ru-BY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GitHub</a:t>
                      </a:r>
                      <a:endParaRPr lang="ru-BY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86199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7666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10">
            <a:extLst>
              <a:ext uri="{FF2B5EF4-FFF2-40B4-BE49-F238E27FC236}">
                <a16:creationId xmlns:a16="http://schemas.microsoft.com/office/drawing/2014/main" id="{5DF4BCA0-2AB5-44ED-979C-AAD533C03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167" y="209551"/>
            <a:ext cx="10515600" cy="943815"/>
          </a:xfrm>
        </p:spPr>
        <p:txBody>
          <a:bodyPr>
            <a:noAutofit/>
          </a:bodyPr>
          <a:lstStyle/>
          <a:p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Сбор и очистка данных</a:t>
            </a:r>
            <a:endParaRPr lang="ru-BY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9313F6B8-DED5-4205-8813-EF6D2FACD0E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7564"/>
          <a:stretch/>
        </p:blipFill>
        <p:spPr>
          <a:xfrm>
            <a:off x="580837" y="3554180"/>
            <a:ext cx="2592669" cy="2197576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77CDAF4F-C99B-41A9-8954-3326095501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837" y="1613928"/>
            <a:ext cx="2592669" cy="1390650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8C8A55C6-57BA-4A1D-B15A-E641286982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4079" y="3554180"/>
            <a:ext cx="4979493" cy="2215794"/>
          </a:xfrm>
          <a:prstGeom prst="rect">
            <a:avLst/>
          </a:prstGeom>
        </p:spPr>
      </p:pic>
      <p:sp>
        <p:nvSpPr>
          <p:cNvPr id="24" name="Заголовок 10">
            <a:extLst>
              <a:ext uri="{FF2B5EF4-FFF2-40B4-BE49-F238E27FC236}">
                <a16:creationId xmlns:a16="http://schemas.microsoft.com/office/drawing/2014/main" id="{FCE46305-759A-45DC-9BA7-F5B6B8B9BF35}"/>
              </a:ext>
            </a:extLst>
          </p:cNvPr>
          <p:cNvSpPr txBox="1">
            <a:spLocks/>
          </p:cNvSpPr>
          <p:nvPr/>
        </p:nvSpPr>
        <p:spPr>
          <a:xfrm>
            <a:off x="458880" y="1073638"/>
            <a:ext cx="2198221" cy="41489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Загрузка данных</a:t>
            </a:r>
            <a:endParaRPr lang="ru-BY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Заголовок 10">
            <a:extLst>
              <a:ext uri="{FF2B5EF4-FFF2-40B4-BE49-F238E27FC236}">
                <a16:creationId xmlns:a16="http://schemas.microsoft.com/office/drawing/2014/main" id="{F8FAB22E-B749-4360-95CE-9B84833888A6}"/>
              </a:ext>
            </a:extLst>
          </p:cNvPr>
          <p:cNvSpPr txBox="1">
            <a:spLocks/>
          </p:cNvSpPr>
          <p:nvPr/>
        </p:nvSpPr>
        <p:spPr>
          <a:xfrm>
            <a:off x="503410" y="3014101"/>
            <a:ext cx="2449152" cy="41489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Объединение данных</a:t>
            </a:r>
            <a:endParaRPr lang="ru-BY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Заголовок 10">
            <a:extLst>
              <a:ext uri="{FF2B5EF4-FFF2-40B4-BE49-F238E27FC236}">
                <a16:creationId xmlns:a16="http://schemas.microsoft.com/office/drawing/2014/main" id="{B154C11D-9E11-4635-B711-23D81B72C816}"/>
              </a:ext>
            </a:extLst>
          </p:cNvPr>
          <p:cNvSpPr txBox="1">
            <a:spLocks/>
          </p:cNvSpPr>
          <p:nvPr/>
        </p:nvSpPr>
        <p:spPr>
          <a:xfrm>
            <a:off x="3454079" y="3031191"/>
            <a:ext cx="3850878" cy="41489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Приведение к нужному формату</a:t>
            </a:r>
            <a:endParaRPr lang="ru-BY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D7D0D450-FB6B-41CA-9497-AD68BF2880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8775" y="1613928"/>
            <a:ext cx="3886200" cy="1371600"/>
          </a:xfrm>
          <a:prstGeom prst="rect">
            <a:avLst/>
          </a:prstGeom>
        </p:spPr>
      </p:pic>
      <p:sp>
        <p:nvSpPr>
          <p:cNvPr id="30" name="Заголовок 10">
            <a:extLst>
              <a:ext uri="{FF2B5EF4-FFF2-40B4-BE49-F238E27FC236}">
                <a16:creationId xmlns:a16="http://schemas.microsoft.com/office/drawing/2014/main" id="{FE86C04B-FDE6-49A2-AD50-4622F2EF2860}"/>
              </a:ext>
            </a:extLst>
          </p:cNvPr>
          <p:cNvSpPr txBox="1">
            <a:spLocks/>
          </p:cNvSpPr>
          <p:nvPr/>
        </p:nvSpPr>
        <p:spPr>
          <a:xfrm>
            <a:off x="3508775" y="1098225"/>
            <a:ext cx="3218131" cy="41489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Удаление пустых строк</a:t>
            </a:r>
            <a:endParaRPr lang="ru-BY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Заголовок 10">
            <a:extLst>
              <a:ext uri="{FF2B5EF4-FFF2-40B4-BE49-F238E27FC236}">
                <a16:creationId xmlns:a16="http://schemas.microsoft.com/office/drawing/2014/main" id="{4D103EA9-D3A4-4317-A6D1-4947421ADACB}"/>
              </a:ext>
            </a:extLst>
          </p:cNvPr>
          <p:cNvSpPr txBox="1">
            <a:spLocks/>
          </p:cNvSpPr>
          <p:nvPr/>
        </p:nvSpPr>
        <p:spPr>
          <a:xfrm>
            <a:off x="8714145" y="1673387"/>
            <a:ext cx="3218131" cy="268142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Выполнено:</a:t>
            </a:r>
          </a:p>
          <a:p>
            <a:endParaRPr lang="ru-RU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-объединение выгрузок из 1С;</a:t>
            </a:r>
          </a:p>
          <a:p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-переименование столбцов;</a:t>
            </a:r>
          </a:p>
          <a:p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-приведение типов данных;</a:t>
            </a:r>
          </a:p>
          <a:p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-обработка пропусков;</a:t>
            </a:r>
          </a:p>
          <a:p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-формирование итоговых таблиц.</a:t>
            </a:r>
            <a:endParaRPr lang="ru-BY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333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10">
            <a:extLst>
              <a:ext uri="{FF2B5EF4-FFF2-40B4-BE49-F238E27FC236}">
                <a16:creationId xmlns:a16="http://schemas.microsoft.com/office/drawing/2014/main" id="{5DF4BCA0-2AB5-44ED-979C-AAD533C03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167" y="209551"/>
            <a:ext cx="10515600" cy="943815"/>
          </a:xfrm>
        </p:spPr>
        <p:txBody>
          <a:bodyPr>
            <a:noAutofit/>
          </a:bodyPr>
          <a:lstStyle/>
          <a:p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данных</a:t>
            </a:r>
            <a:endParaRPr lang="ru-BY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Заголовок 10">
            <a:extLst>
              <a:ext uri="{FF2B5EF4-FFF2-40B4-BE49-F238E27FC236}">
                <a16:creationId xmlns:a16="http://schemas.microsoft.com/office/drawing/2014/main" id="{F8FAB22E-B749-4360-95CE-9B84833888A6}"/>
              </a:ext>
            </a:extLst>
          </p:cNvPr>
          <p:cNvSpPr txBox="1">
            <a:spLocks/>
          </p:cNvSpPr>
          <p:nvPr/>
        </p:nvSpPr>
        <p:spPr>
          <a:xfrm>
            <a:off x="5715053" y="5437911"/>
            <a:ext cx="4408662" cy="158983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Среднее значение составило </a:t>
            </a: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1377,42 руб.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Медиана (</a:t>
            </a: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665,28 руб.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значительно ниже среднего значения, что свидетельствует о наличии крупных операций.</a:t>
            </a:r>
          </a:p>
          <a:p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Разброс данных достаточно велик: от </a:t>
            </a: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–5706 руб.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 </a:t>
            </a: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26697 руб.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Плюс/минус такие же результаты получены и по другим счетам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Полученные результаты позволили оценить структуру данных и выявить необходимость дальнейшего анализа финансовых показателей.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BY" sz="8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10EFE5C-8D55-4554-BF30-AEF7E8E0BD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166" y="1568264"/>
            <a:ext cx="4250041" cy="3974119"/>
          </a:xfrm>
          <a:prstGeom prst="rect">
            <a:avLst/>
          </a:prstGeom>
        </p:spPr>
      </p:pic>
      <p:sp>
        <p:nvSpPr>
          <p:cNvPr id="13" name="Заголовок 10">
            <a:extLst>
              <a:ext uri="{FF2B5EF4-FFF2-40B4-BE49-F238E27FC236}">
                <a16:creationId xmlns:a16="http://schemas.microsoft.com/office/drawing/2014/main" id="{49EF3039-FFBF-43E8-883C-96BF1E121D5F}"/>
              </a:ext>
            </a:extLst>
          </p:cNvPr>
          <p:cNvSpPr txBox="1">
            <a:spLocks/>
          </p:cNvSpPr>
          <p:nvPr/>
        </p:nvSpPr>
        <p:spPr>
          <a:xfrm>
            <a:off x="751166" y="1162697"/>
            <a:ext cx="4408662" cy="41489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стат.показателей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каждого счета</a:t>
            </a:r>
            <a:endParaRPr lang="ru-BY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3897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10">
            <a:extLst>
              <a:ext uri="{FF2B5EF4-FFF2-40B4-BE49-F238E27FC236}">
                <a16:creationId xmlns:a16="http://schemas.microsoft.com/office/drawing/2014/main" id="{5DF4BCA0-2AB5-44ED-979C-AAD533C03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167" y="209551"/>
            <a:ext cx="10515600" cy="943815"/>
          </a:xfrm>
        </p:spPr>
        <p:txBody>
          <a:bodyPr>
            <a:noAutofit/>
          </a:bodyPr>
          <a:lstStyle/>
          <a:p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данных</a:t>
            </a:r>
            <a:endParaRPr lang="ru-BY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224946B-A84E-480E-8DD9-B1CB01289D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167" y="1869410"/>
            <a:ext cx="6057900" cy="1076325"/>
          </a:xfrm>
          <a:prstGeom prst="rect">
            <a:avLst/>
          </a:prstGeom>
        </p:spPr>
      </p:pic>
      <p:sp>
        <p:nvSpPr>
          <p:cNvPr id="12" name="Заголовок 10">
            <a:extLst>
              <a:ext uri="{FF2B5EF4-FFF2-40B4-BE49-F238E27FC236}">
                <a16:creationId xmlns:a16="http://schemas.microsoft.com/office/drawing/2014/main" id="{3663F150-D973-459D-9B77-4D57A0876221}"/>
              </a:ext>
            </a:extLst>
          </p:cNvPr>
          <p:cNvSpPr txBox="1">
            <a:spLocks/>
          </p:cNvSpPr>
          <p:nvPr/>
        </p:nvSpPr>
        <p:spPr>
          <a:xfrm>
            <a:off x="7107142" y="2096037"/>
            <a:ext cx="4681445" cy="94381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Прибыль и рентабельность по годам</a:t>
            </a:r>
          </a:p>
          <a:p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-в 2025 году прибыль снизилась;</a:t>
            </a:r>
          </a:p>
          <a:p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-наблюдается ухудшение рентабельности.</a:t>
            </a:r>
            <a:endParaRPr lang="ru-BY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Заголовок 10">
            <a:extLst>
              <a:ext uri="{FF2B5EF4-FFF2-40B4-BE49-F238E27FC236}">
                <a16:creationId xmlns:a16="http://schemas.microsoft.com/office/drawing/2014/main" id="{996DC4D2-E020-4C04-BA98-12890B8253AF}"/>
              </a:ext>
            </a:extLst>
          </p:cNvPr>
          <p:cNvSpPr txBox="1">
            <a:spLocks/>
          </p:cNvSpPr>
          <p:nvPr/>
        </p:nvSpPr>
        <p:spPr>
          <a:xfrm>
            <a:off x="7107142" y="4224070"/>
            <a:ext cx="4681445" cy="94381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Прибыль по месяцам</a:t>
            </a:r>
          </a:p>
          <a:p>
            <a:endParaRPr lang="ru-RU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-в отдельные месяцы типография работала с убытком;</a:t>
            </a:r>
          </a:p>
          <a:p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-наблюдаются колебания прибыли.</a:t>
            </a:r>
            <a:endParaRPr lang="ru-BY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0C74638A-AC6D-458A-A8CE-CA4446F8C7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167" y="3576357"/>
            <a:ext cx="3771900" cy="1695450"/>
          </a:xfrm>
          <a:prstGeom prst="rect">
            <a:avLst/>
          </a:prstGeom>
        </p:spPr>
      </p:pic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82CB1D14-7658-4E8D-85AB-354ADB79A45B}"/>
              </a:ext>
            </a:extLst>
          </p:cNvPr>
          <p:cNvCxnSpPr/>
          <p:nvPr/>
        </p:nvCxnSpPr>
        <p:spPr>
          <a:xfrm>
            <a:off x="448235" y="3245226"/>
            <a:ext cx="11268636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74473565-79F9-4519-9B08-6E3A1AE49ED1}"/>
              </a:ext>
            </a:extLst>
          </p:cNvPr>
          <p:cNvCxnSpPr/>
          <p:nvPr/>
        </p:nvCxnSpPr>
        <p:spPr>
          <a:xfrm>
            <a:off x="519951" y="1335743"/>
            <a:ext cx="11268636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51367D28-C584-4F95-85BF-6037A13B54A9}"/>
              </a:ext>
            </a:extLst>
          </p:cNvPr>
          <p:cNvCxnSpPr/>
          <p:nvPr/>
        </p:nvCxnSpPr>
        <p:spPr>
          <a:xfrm>
            <a:off x="374649" y="5961532"/>
            <a:ext cx="11268636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507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10">
            <a:extLst>
              <a:ext uri="{FF2B5EF4-FFF2-40B4-BE49-F238E27FC236}">
                <a16:creationId xmlns:a16="http://schemas.microsoft.com/office/drawing/2014/main" id="{5DF4BCA0-2AB5-44ED-979C-AAD533C03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167" y="209551"/>
            <a:ext cx="10515600" cy="943815"/>
          </a:xfrm>
        </p:spPr>
        <p:txBody>
          <a:bodyPr>
            <a:noAutofit/>
          </a:bodyPr>
          <a:lstStyle/>
          <a:p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данных</a:t>
            </a:r>
            <a:endParaRPr lang="ru-BY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C0B1E8C-9C01-495E-9632-A42FEEFB97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167" y="1459618"/>
            <a:ext cx="9934015" cy="4931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5141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10">
            <a:extLst>
              <a:ext uri="{FF2B5EF4-FFF2-40B4-BE49-F238E27FC236}">
                <a16:creationId xmlns:a16="http://schemas.microsoft.com/office/drawing/2014/main" id="{5DF4BCA0-2AB5-44ED-979C-AAD533C03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167" y="209551"/>
            <a:ext cx="10515600" cy="943815"/>
          </a:xfrm>
        </p:spPr>
        <p:txBody>
          <a:bodyPr>
            <a:noAutofit/>
          </a:bodyPr>
          <a:lstStyle/>
          <a:p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данных</a:t>
            </a:r>
            <a:endParaRPr lang="ru-BY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5C7F78E-6209-4375-AA33-7041E82136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878" y="1153366"/>
            <a:ext cx="5314950" cy="199072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66B0318-14F0-4B1E-8867-C6AAAC857A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878" y="3255589"/>
            <a:ext cx="6524625" cy="2085975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5936E-301C-4C62-A884-2A6179215A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878" y="5453062"/>
            <a:ext cx="4800600" cy="847725"/>
          </a:xfrm>
          <a:prstGeom prst="rect">
            <a:avLst/>
          </a:prstGeom>
        </p:spPr>
      </p:pic>
      <p:sp>
        <p:nvSpPr>
          <p:cNvPr id="6" name="Заголовок 10">
            <a:extLst>
              <a:ext uri="{FF2B5EF4-FFF2-40B4-BE49-F238E27FC236}">
                <a16:creationId xmlns:a16="http://schemas.microsoft.com/office/drawing/2014/main" id="{B5406DC8-05F7-4C4B-A1BE-2A3E43BC2734}"/>
              </a:ext>
            </a:extLst>
          </p:cNvPr>
          <p:cNvSpPr txBox="1">
            <a:spLocks/>
          </p:cNvSpPr>
          <p:nvPr/>
        </p:nvSpPr>
        <p:spPr>
          <a:xfrm>
            <a:off x="7209677" y="2999993"/>
            <a:ext cx="4681445" cy="85801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-основными статьями затрат являются материалы и заработная плата;</a:t>
            </a:r>
          </a:p>
          <a:p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-наибольший вклад в рост затрат внесло увеличение расходов на заработную плату (63,70 %общего прироста);</a:t>
            </a:r>
          </a:p>
          <a:p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-рост затрат опередил рост выручки;</a:t>
            </a:r>
          </a:p>
          <a:p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-это привело к снижению рентабельности и возникновению убытков.</a:t>
            </a:r>
            <a:endParaRPr lang="ru-BY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61695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10">
            <a:extLst>
              <a:ext uri="{FF2B5EF4-FFF2-40B4-BE49-F238E27FC236}">
                <a16:creationId xmlns:a16="http://schemas.microsoft.com/office/drawing/2014/main" id="{5DF4BCA0-2AB5-44ED-979C-AAD533C03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167" y="209551"/>
            <a:ext cx="10515600" cy="943815"/>
          </a:xfrm>
        </p:spPr>
        <p:txBody>
          <a:bodyPr>
            <a:noAutofit/>
          </a:bodyPr>
          <a:lstStyle/>
          <a:p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данных</a:t>
            </a:r>
            <a:endParaRPr lang="ru-BY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CF633D6-36C7-4C26-8CD3-A0BBCD50A9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909" y="1153366"/>
            <a:ext cx="3476748" cy="142477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2BB75EF-45CF-4274-ADD7-95900D041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909" y="2805021"/>
            <a:ext cx="6324880" cy="3958849"/>
          </a:xfrm>
          <a:prstGeom prst="rect">
            <a:avLst/>
          </a:prstGeom>
        </p:spPr>
      </p:pic>
      <p:sp>
        <p:nvSpPr>
          <p:cNvPr id="5" name="Заголовок 10">
            <a:extLst>
              <a:ext uri="{FF2B5EF4-FFF2-40B4-BE49-F238E27FC236}">
                <a16:creationId xmlns:a16="http://schemas.microsoft.com/office/drawing/2014/main" id="{3379E873-B6FC-49DB-A88A-5C418C272460}"/>
              </a:ext>
            </a:extLst>
          </p:cNvPr>
          <p:cNvSpPr txBox="1">
            <a:spLocks/>
          </p:cNvSpPr>
          <p:nvPr/>
        </p:nvSpPr>
        <p:spPr>
          <a:xfrm>
            <a:off x="7299324" y="4138510"/>
            <a:ext cx="4681445" cy="85801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-рост расходов на заработную плату наблюдался по всем видам выплат;</a:t>
            </a:r>
          </a:p>
          <a:p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-самые высокие темпы роста показали премии и отпускные;</a:t>
            </a:r>
          </a:p>
          <a:p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-увеличение фонда оплаты труда стало одним из ключевых факторов роста общих затрат типографии.</a:t>
            </a:r>
            <a:endParaRPr lang="ru-BY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26164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10">
            <a:extLst>
              <a:ext uri="{FF2B5EF4-FFF2-40B4-BE49-F238E27FC236}">
                <a16:creationId xmlns:a16="http://schemas.microsoft.com/office/drawing/2014/main" id="{5DF4BCA0-2AB5-44ED-979C-AAD533C03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167" y="209551"/>
            <a:ext cx="10515600" cy="943815"/>
          </a:xfrm>
        </p:spPr>
        <p:txBody>
          <a:bodyPr>
            <a:noAutofit/>
          </a:bodyPr>
          <a:lstStyle/>
          <a:p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данных АВС</a:t>
            </a:r>
            <a:endParaRPr lang="ru-BY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Заголовок 10">
            <a:extLst>
              <a:ext uri="{FF2B5EF4-FFF2-40B4-BE49-F238E27FC236}">
                <a16:creationId xmlns:a16="http://schemas.microsoft.com/office/drawing/2014/main" id="{3379E873-B6FC-49DB-A88A-5C418C272460}"/>
              </a:ext>
            </a:extLst>
          </p:cNvPr>
          <p:cNvSpPr txBox="1">
            <a:spLocks/>
          </p:cNvSpPr>
          <p:nvPr/>
        </p:nvSpPr>
        <p:spPr>
          <a:xfrm>
            <a:off x="7299324" y="4138510"/>
            <a:ext cx="4681445" cy="85801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734F785-3D5B-4397-BA18-5EBB23DE38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167" y="1347787"/>
            <a:ext cx="5553075" cy="4162425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AD15E97-120B-4DA4-8FEA-068E9BB6C3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9324" y="1347787"/>
            <a:ext cx="3571875" cy="1419225"/>
          </a:xfrm>
          <a:prstGeom prst="rect">
            <a:avLst/>
          </a:prstGeom>
        </p:spPr>
      </p:pic>
      <p:sp>
        <p:nvSpPr>
          <p:cNvPr id="10" name="Заголовок 10">
            <a:extLst>
              <a:ext uri="{FF2B5EF4-FFF2-40B4-BE49-F238E27FC236}">
                <a16:creationId xmlns:a16="http://schemas.microsoft.com/office/drawing/2014/main" id="{6F2169A8-4E97-4510-BE47-57C72C2894EC}"/>
              </a:ext>
            </a:extLst>
          </p:cNvPr>
          <p:cNvSpPr txBox="1">
            <a:spLocks/>
          </p:cNvSpPr>
          <p:nvPr/>
        </p:nvSpPr>
        <p:spPr>
          <a:xfrm>
            <a:off x="7299324" y="4996524"/>
            <a:ext cx="3686362" cy="41489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-29 клиентов обеспечивают около 80% выручки;</a:t>
            </a:r>
          </a:p>
          <a:p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-типография существенно зависит от небольшой группы ключевых контрагентов;</a:t>
            </a:r>
          </a:p>
          <a:p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-необходимо развивать отношения с клиентами группы А</a:t>
            </a:r>
            <a:endParaRPr lang="ru-BY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49454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10">
            <a:extLst>
              <a:ext uri="{FF2B5EF4-FFF2-40B4-BE49-F238E27FC236}">
                <a16:creationId xmlns:a16="http://schemas.microsoft.com/office/drawing/2014/main" id="{5DF4BCA0-2AB5-44ED-979C-AAD533C03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167" y="209551"/>
            <a:ext cx="10515600" cy="943815"/>
          </a:xfrm>
        </p:spPr>
        <p:txBody>
          <a:bodyPr>
            <a:no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endParaRPr lang="ru-BY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B8953B6-79FD-4F5E-9D9F-7BC0EC2C6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167" y="1443317"/>
            <a:ext cx="4207006" cy="5070802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18ECBF6-3B9B-4546-AB43-73FFD8C2F3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8917" y="1488140"/>
            <a:ext cx="5657850" cy="4752975"/>
          </a:xfrm>
          <a:prstGeom prst="rect">
            <a:avLst/>
          </a:prstGeom>
        </p:spPr>
      </p:pic>
      <p:sp>
        <p:nvSpPr>
          <p:cNvPr id="6" name="Заголовок 10">
            <a:extLst>
              <a:ext uri="{FF2B5EF4-FFF2-40B4-BE49-F238E27FC236}">
                <a16:creationId xmlns:a16="http://schemas.microsoft.com/office/drawing/2014/main" id="{9815CC71-83B4-4FBB-89AF-740CF3982DEB}"/>
              </a:ext>
            </a:extLst>
          </p:cNvPr>
          <p:cNvSpPr txBox="1">
            <a:spLocks/>
          </p:cNvSpPr>
          <p:nvPr/>
        </p:nvSpPr>
        <p:spPr>
          <a:xfrm>
            <a:off x="751167" y="1028418"/>
            <a:ext cx="3686362" cy="41489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Топ 10 контрагентов по выручке</a:t>
            </a:r>
            <a:endParaRPr lang="ru-BY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Заголовок 10">
            <a:extLst>
              <a:ext uri="{FF2B5EF4-FFF2-40B4-BE49-F238E27FC236}">
                <a16:creationId xmlns:a16="http://schemas.microsoft.com/office/drawing/2014/main" id="{FFB150DF-6D99-4715-824A-41BB2F2A2CA3}"/>
              </a:ext>
            </a:extLst>
          </p:cNvPr>
          <p:cNvSpPr txBox="1">
            <a:spLocks/>
          </p:cNvSpPr>
          <p:nvPr/>
        </p:nvSpPr>
        <p:spPr>
          <a:xfrm>
            <a:off x="5608917" y="1028418"/>
            <a:ext cx="3686362" cy="41489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 затрат за 2 года</a:t>
            </a:r>
            <a:endParaRPr lang="ru-BY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7983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10">
            <a:extLst>
              <a:ext uri="{FF2B5EF4-FFF2-40B4-BE49-F238E27FC236}">
                <a16:creationId xmlns:a16="http://schemas.microsoft.com/office/drawing/2014/main" id="{5DF4BCA0-2AB5-44ED-979C-AAD533C03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167" y="209551"/>
            <a:ext cx="10515600" cy="943815"/>
          </a:xfrm>
        </p:spPr>
        <p:txBody>
          <a:bodyPr>
            <a:no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</a:t>
            </a:r>
            <a:endParaRPr lang="ru-BY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2645004-D463-4246-9EB9-4580803C00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760" y="1153366"/>
            <a:ext cx="9434793" cy="5348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1823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10">
            <a:extLst>
              <a:ext uri="{FF2B5EF4-FFF2-40B4-BE49-F238E27FC236}">
                <a16:creationId xmlns:a16="http://schemas.microsoft.com/office/drawing/2014/main" id="{5DF4BCA0-2AB5-44ED-979C-AAD533C03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167" y="209551"/>
            <a:ext cx="10515600" cy="943815"/>
          </a:xfrm>
        </p:spPr>
        <p:txBody>
          <a:bodyPr>
            <a:no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</a:t>
            </a:r>
            <a:endParaRPr lang="ru-BY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D21D685-D19F-46F5-8A09-4FC702544D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186440"/>
            <a:ext cx="9460006" cy="5390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5644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10">
            <a:extLst>
              <a:ext uri="{FF2B5EF4-FFF2-40B4-BE49-F238E27FC236}">
                <a16:creationId xmlns:a16="http://schemas.microsoft.com/office/drawing/2014/main" id="{5DF4BCA0-2AB5-44ED-979C-AAD533C03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167" y="209551"/>
            <a:ext cx="10515600" cy="943815"/>
          </a:xfrm>
        </p:spPr>
        <p:txBody>
          <a:bodyPr>
            <a:noAutofit/>
          </a:bodyPr>
          <a:lstStyle/>
          <a:p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Рекомендации</a:t>
            </a:r>
            <a:endParaRPr lang="ru-BY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Заголовок 10">
            <a:extLst>
              <a:ext uri="{FF2B5EF4-FFF2-40B4-BE49-F238E27FC236}">
                <a16:creationId xmlns:a16="http://schemas.microsoft.com/office/drawing/2014/main" id="{3797020C-4C27-419A-945B-61099AEAA770}"/>
              </a:ext>
            </a:extLst>
          </p:cNvPr>
          <p:cNvSpPr txBox="1">
            <a:spLocks/>
          </p:cNvSpPr>
          <p:nvPr/>
        </p:nvSpPr>
        <p:spPr>
          <a:xfrm>
            <a:off x="751167" y="4604675"/>
            <a:ext cx="6402668" cy="85801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удержание клиентов группы А</a:t>
            </a: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-персональные предложения</a:t>
            </a:r>
          </a:p>
          <a:p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оптимизация затрат</a:t>
            </a: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-контроль закупок материалов</a:t>
            </a: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-пересмотр отдельных расходов</a:t>
            </a: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-пересмотр стимулирующих выплат персоналу</a:t>
            </a:r>
          </a:p>
          <a:p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пересмотр ценовой политики</a:t>
            </a: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-анализ себестоимости</a:t>
            </a: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-корректировка стоимости продукции</a:t>
            </a:r>
          </a:p>
          <a:p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внедрение хорошей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CRM </a:t>
            </a: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системы</a:t>
            </a:r>
            <a:endParaRPr lang="ru-BY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F13A8CDA-14E2-44FB-B9EF-E93329DC91AE}"/>
              </a:ext>
            </a:extLst>
          </p:cNvPr>
          <p:cNvCxnSpPr/>
          <p:nvPr/>
        </p:nvCxnSpPr>
        <p:spPr>
          <a:xfrm>
            <a:off x="591671" y="2196353"/>
            <a:ext cx="108204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51D60661-D450-43C1-B574-6F2785ED50A6}"/>
              </a:ext>
            </a:extLst>
          </p:cNvPr>
          <p:cNvCxnSpPr/>
          <p:nvPr/>
        </p:nvCxnSpPr>
        <p:spPr>
          <a:xfrm>
            <a:off x="598767" y="3693459"/>
            <a:ext cx="108204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270A10EC-23FA-4BEF-BC0E-4835913B1AA4}"/>
              </a:ext>
            </a:extLst>
          </p:cNvPr>
          <p:cNvCxnSpPr/>
          <p:nvPr/>
        </p:nvCxnSpPr>
        <p:spPr>
          <a:xfrm>
            <a:off x="591671" y="4957482"/>
            <a:ext cx="108204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628271E4-B581-4A84-94A6-547358F4C786}"/>
              </a:ext>
            </a:extLst>
          </p:cNvPr>
          <p:cNvCxnSpPr/>
          <p:nvPr/>
        </p:nvCxnSpPr>
        <p:spPr>
          <a:xfrm>
            <a:off x="591671" y="1228165"/>
            <a:ext cx="108204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40553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C5D454-19E8-4454-9F79-6099A5F64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0437" y="1402242"/>
            <a:ext cx="5651126" cy="354541"/>
          </a:xfrm>
        </p:spPr>
        <p:txBody>
          <a:bodyPr>
            <a:normAutofit fontScale="90000"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9D41DF7F-60F5-4608-9718-04CAABF35AD6}"/>
              </a:ext>
            </a:extLst>
          </p:cNvPr>
          <p:cNvCxnSpPr/>
          <p:nvPr/>
        </p:nvCxnSpPr>
        <p:spPr>
          <a:xfrm>
            <a:off x="941294" y="3429000"/>
            <a:ext cx="10443882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5" name="Равнобедренный треугольник 4">
            <a:extLst>
              <a:ext uri="{FF2B5EF4-FFF2-40B4-BE49-F238E27FC236}">
                <a16:creationId xmlns:a16="http://schemas.microsoft.com/office/drawing/2014/main" id="{53989ADA-6111-4E55-981A-7A8DD3B86C31}"/>
              </a:ext>
            </a:extLst>
          </p:cNvPr>
          <p:cNvSpPr/>
          <p:nvPr/>
        </p:nvSpPr>
        <p:spPr>
          <a:xfrm>
            <a:off x="2241176" y="2572871"/>
            <a:ext cx="1900518" cy="1676400"/>
          </a:xfrm>
          <a:prstGeom prst="triangl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6" name="Равнобедренный треугольник 5">
            <a:extLst>
              <a:ext uri="{FF2B5EF4-FFF2-40B4-BE49-F238E27FC236}">
                <a16:creationId xmlns:a16="http://schemas.microsoft.com/office/drawing/2014/main" id="{96F28BD5-FDA0-4B76-ABCE-80BF528A0193}"/>
              </a:ext>
            </a:extLst>
          </p:cNvPr>
          <p:cNvSpPr/>
          <p:nvPr/>
        </p:nvSpPr>
        <p:spPr>
          <a:xfrm>
            <a:off x="7637929" y="2572871"/>
            <a:ext cx="1900518" cy="1676400"/>
          </a:xfrm>
          <a:prstGeom prst="triangl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7" name="Равнобедренный треугольник 6">
            <a:extLst>
              <a:ext uri="{FF2B5EF4-FFF2-40B4-BE49-F238E27FC236}">
                <a16:creationId xmlns:a16="http://schemas.microsoft.com/office/drawing/2014/main" id="{88925DF1-03A5-4DC8-BF86-84BC6E698933}"/>
              </a:ext>
            </a:extLst>
          </p:cNvPr>
          <p:cNvSpPr/>
          <p:nvPr/>
        </p:nvSpPr>
        <p:spPr>
          <a:xfrm rot="10800000">
            <a:off x="4939552" y="2590800"/>
            <a:ext cx="1900518" cy="1676400"/>
          </a:xfrm>
          <a:prstGeom prst="triangl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8" name="Равнобедренный треугольник 7">
            <a:extLst>
              <a:ext uri="{FF2B5EF4-FFF2-40B4-BE49-F238E27FC236}">
                <a16:creationId xmlns:a16="http://schemas.microsoft.com/office/drawing/2014/main" id="{F7E4B868-E4D0-408C-8B8C-DCD30D759152}"/>
              </a:ext>
            </a:extLst>
          </p:cNvPr>
          <p:cNvSpPr/>
          <p:nvPr/>
        </p:nvSpPr>
        <p:spPr>
          <a:xfrm>
            <a:off x="3270437" y="2572871"/>
            <a:ext cx="1900518" cy="1676400"/>
          </a:xfrm>
          <a:prstGeom prst="triangl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9" name="Равнобедренный треугольник 8">
            <a:extLst>
              <a:ext uri="{FF2B5EF4-FFF2-40B4-BE49-F238E27FC236}">
                <a16:creationId xmlns:a16="http://schemas.microsoft.com/office/drawing/2014/main" id="{F4F8263F-3F45-4950-A6CE-A18AB8CFCD2E}"/>
              </a:ext>
            </a:extLst>
          </p:cNvPr>
          <p:cNvSpPr/>
          <p:nvPr/>
        </p:nvSpPr>
        <p:spPr>
          <a:xfrm>
            <a:off x="6608666" y="2572871"/>
            <a:ext cx="1900518" cy="1676400"/>
          </a:xfrm>
          <a:prstGeom prst="triangl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4826519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</TotalTime>
  <Words>432</Words>
  <Application>Microsoft Office PowerPoint</Application>
  <PresentationFormat>Широкоэкранный</PresentationFormat>
  <Paragraphs>119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Тема Office</vt:lpstr>
      <vt:lpstr>Анализ  убыточности  типографии  </vt:lpstr>
      <vt:lpstr>Вопрос:  почему стабильно  прибыльная типография  стала убыточной в последние  периоды?</vt:lpstr>
      <vt:lpstr>Этапы реализации задачи и их проработка</vt:lpstr>
      <vt:lpstr>Сбор и очистка данных</vt:lpstr>
      <vt:lpstr>Анализ данных</vt:lpstr>
      <vt:lpstr>Анализ данных</vt:lpstr>
      <vt:lpstr>Анализ данных</vt:lpstr>
      <vt:lpstr>Анализ данных</vt:lpstr>
      <vt:lpstr>Анализ данных</vt:lpstr>
      <vt:lpstr>Анализ данных АВС</vt:lpstr>
      <vt:lpstr>SQL</vt:lpstr>
      <vt:lpstr>POWER BI</vt:lpstr>
      <vt:lpstr>POWER BI</vt:lpstr>
      <vt:lpstr>Рекомендации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Анализ  убыточности  типографии</dc:title>
  <dc:creator>User</dc:creator>
  <cp:lastModifiedBy>Мария Макарова</cp:lastModifiedBy>
  <cp:revision>22</cp:revision>
  <dcterms:created xsi:type="dcterms:W3CDTF">2026-05-18T07:00:19Z</dcterms:created>
  <dcterms:modified xsi:type="dcterms:W3CDTF">2026-06-15T10:17:19Z</dcterms:modified>
</cp:coreProperties>
</file>